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5659" y="1508760"/>
            <a:ext cx="97416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 dirty="0"/>
              <a:t>Deep Learning for Medical Diagnosis and Report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1. What Diseases Are Being Classified?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Total Scope: 144 non-cancerous skin conditions analyzed across 64 included peer-reviewed studies (benign and malignant neoplasms were strictly excluded).</a:t>
            </a:r>
          </a:p>
          <a:p>
            <a:pPr>
              <a:spcAft>
                <a:spcPts val="800"/>
              </a:spcAft>
              <a:defRPr sz="1500"/>
            </a:pPr>
            <a:r>
              <a:t>Top 6 Most Studied Diseases: Acne (n=30), Psoriasis (n=27), Eczema (n=22), Rosacea (n=12), Vitiligo (n=12), and Urticaria (n=8).</a:t>
            </a:r>
          </a:p>
          <a:p>
            <a:pPr>
              <a:spcAft>
                <a:spcPts val="800"/>
              </a:spcAft>
              <a:defRPr sz="1500"/>
            </a:pPr>
            <a:r>
              <a:t>Five Main Diagnostic Disease Categories:</a:t>
            </a:r>
          </a:p>
          <a:p>
            <a:pPr>
              <a:spcAft>
                <a:spcPts val="800"/>
              </a:spcAft>
              <a:defRPr sz="1500"/>
            </a:pPr>
            <a:r>
              <a:t>Inflammatory Disorders: Eczematous conditions, psoriasis, lichenoid reactions, urticaria, immunobullous conditions.</a:t>
            </a:r>
          </a:p>
          <a:p>
            <a:pPr>
              <a:spcAft>
                <a:spcPts val="800"/>
              </a:spcAft>
              <a:defRPr sz="1500"/>
            </a:pPr>
            <a:r>
              <a:t>Follicular Disorders of Skin: Acne vulgaris, rosacea, and hidradenitis suppurativa.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1. What Diseases Are Being Classified?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Alopecia: Scalp and hair loss pathologies.</a:t>
            </a:r>
          </a:p>
          <a:p>
            <a:pPr>
              <a:spcAft>
                <a:spcPts val="800"/>
              </a:spcAft>
              <a:defRPr sz="1500"/>
            </a:pPr>
            <a:r>
              <a:t>Pigmentary Disorders: Vitiligo and melasma.</a:t>
            </a:r>
          </a:p>
          <a:p>
            <a:pPr>
              <a:spcAft>
                <a:spcPts val="800"/>
              </a:spcAft>
              <a:defRPr sz="1500"/>
            </a:pPr>
            <a:r>
              <a:t>Skin Infections: Bacterial, viral, fungal, and parasitic cutaneous infections.</a:t>
            </a:r>
          </a:p>
          <a:p>
            <a:pPr>
              <a:spcAft>
                <a:spcPts val="800"/>
              </a:spcAft>
              <a:defRPr sz="1500"/>
            </a:pPr>
            <a:r>
              <a:t>Clinical Task Split: 81.3% (n=52) of studies evaluated automated primary diagnosis, while 18.8% (n=12) assessed disease severity grading (e.g., Psoriasis Area and Severity Index [PASI] and acne lesion grading scales).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What Datasets Are Used?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Data Sources &amp; Repositories:</a:t>
            </a:r>
          </a:p>
          <a:p>
            <a:pPr>
              <a:spcAft>
                <a:spcPts val="800"/>
              </a:spcAft>
              <a:defRPr sz="1500"/>
            </a:pPr>
            <a:r>
              <a:t>Hospital and University databases: 46.9% (n=30).</a:t>
            </a:r>
          </a:p>
          <a:p>
            <a:pPr>
              <a:spcAft>
                <a:spcPts val="800"/>
              </a:spcAft>
              <a:defRPr sz="1500"/>
            </a:pPr>
            <a:r>
              <a:t>Publicly accessible image repositories: 21.9% (n=14).</a:t>
            </a:r>
          </a:p>
          <a:p>
            <a:pPr>
              <a:spcAft>
                <a:spcPts val="800"/>
              </a:spcAft>
              <a:defRPr sz="1500"/>
            </a:pPr>
            <a:r>
              <a:t>Mixed or unstated institutional sources: 31.2%.</a:t>
            </a:r>
          </a:p>
          <a:p>
            <a:pPr>
              <a:spcAft>
                <a:spcPts val="800"/>
              </a:spcAft>
              <a:defRPr sz="1500"/>
            </a:pPr>
            <a:r>
              <a:t>Regional representation: Private datasets were predominantly sourced from Asian cohorts (73.0%, n=35).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What Datasets Are Used?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Study Design &amp; Data Partitioning:</a:t>
            </a:r>
          </a:p>
          <a:p>
            <a:pPr>
              <a:spcAft>
                <a:spcPts val="800"/>
              </a:spcAft>
              <a:defRPr sz="1500"/>
            </a:pPr>
            <a:r>
              <a:t>Retrospectively collected image sets: 87.5% (n=56).</a:t>
            </a:r>
          </a:p>
          <a:p>
            <a:pPr>
              <a:spcAft>
                <a:spcPts val="800"/>
              </a:spcAft>
              <a:defRPr sz="1500"/>
            </a:pPr>
            <a:r>
              <a:t>84.4% (n=54) utilized the identical dataset split for both training and validation/testing.</a:t>
            </a:r>
          </a:p>
          <a:p>
            <a:pPr>
              <a:spcAft>
                <a:spcPts val="800"/>
              </a:spcAft>
              <a:defRPr sz="1500"/>
            </a:pPr>
            <a:r>
              <a:t>External validation: Only 14.1% (n=9) evaluated algorithm checkpoints on independent out-of-sample datasets.</a:t>
            </a:r>
          </a:p>
          <a:p>
            <a:pPr>
              <a:spcAft>
                <a:spcPts val="800"/>
              </a:spcAft>
              <a:defRPr sz="1500"/>
            </a:pPr>
            <a:r>
              <a:t>Image Capture Modality: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What Datasets Are Used?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87.5% (n=56) comprised macroscopic clinical photographs (standard clinical cameras/smartphones).</a:t>
            </a:r>
          </a:p>
          <a:p>
            <a:pPr>
              <a:spcAft>
                <a:spcPts val="800"/>
              </a:spcAft>
              <a:defRPr sz="1500"/>
            </a:pPr>
            <a:r>
              <a:t>Dermoscopic imaging was used in only 7.8% of studies, restricted primarily to psoriasis (n=5) and eczema (n=4).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What Models Are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Algorithm Volume: 69 discrete deep learning algorithms evaluated across the 64 included studies.</a:t>
            </a:r>
          </a:p>
          <a:p>
            <a:pPr>
              <a:spcAft>
                <a:spcPts val="800"/>
              </a:spcAft>
              <a:defRPr sz="1500"/>
            </a:pPr>
            <a:r>
              <a:t>Convolutional Neural Networks (CNNs / DCNNs): Applied in 79.7% (n=55/69) of pipelines; dominant architecture choice since 2017 (85% of all papers by 2021).</a:t>
            </a:r>
          </a:p>
          <a:p>
            <a:pPr>
              <a:spcAft>
                <a:spcPts val="800"/>
              </a:spcAft>
              <a:defRPr sz="1500"/>
            </a:pPr>
            <a:r>
              <a:t>Ensemble Deep Learning: Parallel model consensus architectures combining distinct feature extractors (8.7%, n=6).</a:t>
            </a:r>
          </a:p>
          <a:p>
            <a:pPr>
              <a:spcAft>
                <a:spcPts val="800"/>
              </a:spcAft>
              <a:defRPr sz="1500"/>
            </a:pPr>
            <a:r>
              <a:t>Legacy Shallow Architectures: Multilayer Perceptrons (MLP: 2.9%, n=2) and classical Artificial Neural Networks (ANN: 2.9%, n=2).</a:t>
            </a:r>
          </a:p>
          <a:p>
            <a:pPr>
              <a:spcAft>
                <a:spcPts val="800"/>
              </a:spcAft>
              <a:defRPr sz="1500"/>
            </a:pPr>
            <a:r>
              <a:t>Unspecified Deep Learning Architectures: 5.8% (n=4).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4. What Metrics?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Diagnostic Accuracy (Primary Metric): Reported in 75% of studies; median accuracy: Acne 93.5% (IQR 85.7-97.5%), Rosacea 93.7% (IQR 89.6-96.9%), Eczema 92.6% (IQR 89.7-99.4%), Psoriasis 89.1% (IQR 78.1-92.0%), Alopecia 100%.</a:t>
            </a:r>
          </a:p>
          <a:p>
            <a:pPr>
              <a:spcAft>
                <a:spcPts val="800"/>
              </a:spcAft>
              <a:defRPr sz="1500"/>
            </a:pPr>
            <a:r>
              <a:t>Sensitivity (Recall): Highly erratic across diseases (median: Rosacea 63.4%, Urticaria 65.8%, Inflammatory 77.3%, Vitiligo 90.9%); degraded severely upon independent external testing (dropping to 58.1% for inflammatory conditions and 41.7% for rosacea).</a:t>
            </a:r>
          </a:p>
          <a:p>
            <a:pPr>
              <a:spcAft>
                <a:spcPts val="800"/>
              </a:spcAft>
              <a:defRPr sz="1500"/>
            </a:pPr>
            <a:r>
              <a:t>Specificity: Consistently robust across almost all models (median: 88.3% to 100.0% across all evaluated entities).</a:t>
            </a:r>
          </a:p>
          <a:p>
            <a:pPr>
              <a:spcAft>
                <a:spcPts val="800"/>
              </a:spcAft>
              <a:defRPr sz="1500"/>
            </a:pPr>
            <a:r>
              <a:t>Area Under the ROC Curve (AUC): Reported in 23 studies, ranging between 0.90 (rosacea) and 0.98 (acne).</a:t>
            </a:r>
          </a:p>
          <a:p>
            <a:pPr>
              <a:spcAft>
                <a:spcPts val="800"/>
              </a:spcAft>
              <a:defRPr sz="1500"/>
            </a:pPr>
            <a:r>
              <a:t>Predictive Values: Positive Predictive Value (PPV) ranged from 76.9% to 90.9%; Negative Predictive Value (NPV) exceeded 90.0% across all six common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What Are the Limitations?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High Bias Risk &amp; Methodological Deficits: 92.2% (n=59) of studies had high risk of bias; 96.9% (n=62) had serious applicability concerns under modified QUADAS-2 criteria.</a:t>
            </a:r>
          </a:p>
          <a:p>
            <a:pPr>
              <a:spcAft>
                <a:spcPts val="800"/>
              </a:spcAft>
              <a:defRPr sz="1500"/>
            </a:pPr>
            <a:r>
              <a:t>Demographic Reporting Failures: Only 18.8% (n=12) documented participant ethnicity or Fitzpatrick skin phototype; skin types I, V, and VI were critically omitted.</a:t>
            </a:r>
          </a:p>
          <a:p>
            <a:pPr>
              <a:spcAft>
                <a:spcPts val="800"/>
              </a:spcAft>
              <a:defRPr sz="1500"/>
            </a:pPr>
            <a:r>
              <a:t>Geographical Bias: Skewed heavily toward East and South Asian private clinical data (China n=20, India n=9).</a:t>
            </a:r>
          </a:p>
          <a:p>
            <a:pPr>
              <a:spcAft>
                <a:spcPts val="800"/>
              </a:spcAft>
              <a:defRPr sz="1500"/>
            </a:pPr>
            <a:r>
              <a:t>Lack of Randomized Controlled Trials: Complete absence of prospective Randomized Controlled Trials (RCTs) assessing real patient outcomes.</a:t>
            </a:r>
          </a:p>
          <a:p>
            <a:pPr>
              <a:spcAft>
                <a:spcPts val="800"/>
              </a:spcAft>
              <a:defRPr sz="1500"/>
            </a:pPr>
            <a:r>
              <a:t>Inconsistent Reference Standards: Ambiguous ground truth definitions; multiple studies lacked board-certified dermatologist review or histological confirmation.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What Are the Limitations?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Data &amp; Code Opacity: 68.8% of image datasets and 59.4% of model codebases were closed-source and unavailable.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6. What Makes a Study Clinically Meaningful?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1: Paper 1 (Systematic Review of DL for Skin Disease Diagnosis &amp; 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Prospective Real-World Cohorts: Validating models on consecutive patient streams in clinical environments rather than static, curated web databases.</a:t>
            </a:r>
          </a:p>
          <a:p>
            <a:pPr>
              <a:spcAft>
                <a:spcPts val="800"/>
              </a:spcAft>
              <a:defRPr sz="1500"/>
            </a:pPr>
            <a:r>
              <a:t>Independent External Validation: Testing trained models on geographically independent datasets captured via varied camera hardware and hospital settings.</a:t>
            </a:r>
          </a:p>
          <a:p>
            <a:pPr>
              <a:spcAft>
                <a:spcPts val="800"/>
              </a:spcAft>
              <a:defRPr sz="1500"/>
            </a:pPr>
            <a:r>
              <a:t>Diverse Skin Phototype Inclusivity: Enrolling balanced cohorts across all Fitzpatrick skin types (especially darker phototypes V &amp; VI) with transparent metadata.</a:t>
            </a:r>
          </a:p>
          <a:p>
            <a:pPr>
              <a:spcAft>
                <a:spcPts val="800"/>
              </a:spcAft>
              <a:defRPr sz="1500"/>
            </a:pPr>
            <a:r>
              <a:t>Specialist Consensus Reference Standard: Diagnostic labels confirmed by consensus panels of board-certified dermatologists, histological biopsies, or laboratory diagnostics.</a:t>
            </a:r>
          </a:p>
          <a:p>
            <a:pPr>
              <a:spcAft>
                <a:spcPts val="800"/>
              </a:spcAft>
              <a:defRPr sz="1500"/>
            </a:pPr>
            <a:r>
              <a:t>Standardized Reporting &amp; Trial Protocols: Conducting prospective clinical evaluations under SPIRIT-AI, CONSORT-AI, and TRIPOD-AI guidelines.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1. What Diseases Are Being Classified?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Thoracic &amp; Cardiopulmonary Pathologies: Cardiomegaly, pulmonary edema, pneumonia, COVID-19 consolidation, pneumothorax, atelectasis, and maxillary sinus conditions.</a:t>
            </a:r>
          </a:p>
          <a:p>
            <a:pPr>
              <a:spcAft>
                <a:spcPts val="800"/>
              </a:spcAft>
              <a:defRPr sz="1500"/>
            </a:pPr>
            <a:r>
              <a:t>Oncological Masses &amp; Tumors: 3D brain tumors, mediastinal cysts, high-resolution breast cancer screening lesions, and prostate nodules.</a:t>
            </a:r>
          </a:p>
          <a:p>
            <a:pPr>
              <a:spcAft>
                <a:spcPts val="800"/>
              </a:spcAft>
              <a:defRPr sz="1500"/>
            </a:pPr>
            <a:r>
              <a:t>Neurological &amp; Ocular Disorders: Ischemic stroke identification via brain CT/MRI, glaucoma detection, and retinal fundus imaging anomalies.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What Datasets Are Used?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Core Public Benchmarks (Over 60% of all literature):</a:t>
            </a:r>
          </a:p>
          <a:p>
            <a:pPr>
              <a:spcAft>
                <a:spcPts val="800"/>
              </a:spcAft>
              <a:defRPr sz="1500"/>
            </a:pPr>
            <a:r>
              <a:t>MIMIC-CXR: Large multimodal chest radiograph and report repository.</a:t>
            </a:r>
          </a:p>
          <a:p>
            <a:pPr>
              <a:spcAft>
                <a:spcPts val="800"/>
              </a:spcAft>
              <a:defRPr sz="1500"/>
            </a:pPr>
            <a:r>
              <a:t>CheXpert: Frontal and lateral chest radiographs labeled for 14 common observations.</a:t>
            </a:r>
          </a:p>
          <a:p>
            <a:pPr>
              <a:spcAft>
                <a:spcPts val="800"/>
              </a:spcAft>
              <a:defRPr sz="1500"/>
            </a:pPr>
            <a:r>
              <a:t>NIH ChestX-ray8 / ChestX-ray14: Multi-label chest disease benchmarks.</a:t>
            </a:r>
          </a:p>
          <a:p>
            <a:pPr>
              <a:spcAft>
                <a:spcPts val="800"/>
              </a:spcAft>
              <a:defRPr sz="1500"/>
            </a:pPr>
            <a:r>
              <a:t>Clinical Institutional Collections: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What Datasets Are Used?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IU-Xray (Open-I): Paired radiological images and structured text reports.</a:t>
            </a:r>
          </a:p>
          <a:p>
            <a:pPr>
              <a:spcAft>
                <a:spcPts val="800"/>
              </a:spcAft>
              <a:defRPr sz="1500"/>
            </a:pPr>
            <a:r>
              <a:t>PadChest: High-resolution radiographs with Spanish clinical reports.</a:t>
            </a:r>
          </a:p>
          <a:p>
            <a:pPr>
              <a:spcAft>
                <a:spcPts val="800"/>
              </a:spcAft>
              <a:defRPr sz="1500"/>
            </a:pPr>
            <a:r>
              <a:t>VinDr-CXR, JSRT, Shenzhen Hospital, Montgomery County, and COVID-19 Radiography collections.</a:t>
            </a:r>
          </a:p>
          <a:p>
            <a:pPr>
              <a:spcAft>
                <a:spcPts val="800"/>
              </a:spcAft>
              <a:defRPr sz="1500"/>
            </a:pPr>
            <a:r>
              <a:t>Specialized Imaging Datasets: Large-scale stroke brain MRI datasets, Dutch screening mammography cohorts, and ophthalmic fundus registries.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What Models Are Used?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Encoder-Decoder Frameworks (Primary Approach - 45%): Visual feature encoders (CNN backbones: ResNet-152, DenseNet-121, Inception-v3, ConvNeXt) combined with text-generating decoders (LSTM, GRU, BioBERT).</a:t>
            </a:r>
          </a:p>
          <a:p>
            <a:pPr>
              <a:spcAft>
                <a:spcPts val="800"/>
              </a:spcAft>
              <a:defRPr sz="1500"/>
            </a:pPr>
            <a:r>
              <a:t>Transformer-Based Architectures (20%): Vision Transformers (ViT, Swin) connected to autoregressive text decoders (AIMNet, TSGET, MFAT, KiUT).</a:t>
            </a:r>
          </a:p>
          <a:p>
            <a:pPr>
              <a:spcAft>
                <a:spcPts val="800"/>
              </a:spcAft>
              <a:defRPr sz="1500"/>
            </a:pPr>
            <a:r>
              <a:t>Attention-Enhanced Frameworks (10%): Dual spatial-channel attention (SCA-CNN), semantic inspectors, and Object Dropout MLP (ODM).</a:t>
            </a:r>
          </a:p>
          <a:p>
            <a:pPr>
              <a:spcAft>
                <a:spcPts val="800"/>
              </a:spcAft>
              <a:defRPr sz="1500"/>
            </a:pPr>
            <a:r>
              <a:t>RNN / LSTM Sequential Models (10%): Hierarchical LSTM (HLSTM), Semantic Fusion Network (SFNet), and Flexible Multi-View Paradigms (FMVP).</a:t>
            </a:r>
          </a:p>
          <a:p>
            <a:pPr>
              <a:spcAft>
                <a:spcPts val="800"/>
              </a:spcAft>
              <a:defRPr sz="1500"/>
            </a:pPr>
            <a:r>
              <a:t>Large Language Models / LLMs (10%): Domain-adapted foundation models (ChatGLM, GLM with LoRA/P-tuning, and R2GenGPT using LLaMA-2-7B).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What Models Are Used?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Graph Neural Networks (4%): Graph Convolutional Networks (GCNs) combined with clinical knowledge graphs (RadGraph, PubMedBERT, SKEMA).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4. What Metrics?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Diagnostic Classification Metrics: Accuracy (routinely &gt;90%, reaching 95.8% in AIMNet), Precision, Recall (Sensitivity), and F1-Score.</a:t>
            </a:r>
          </a:p>
          <a:p>
            <a:pPr>
              <a:spcAft>
                <a:spcPts val="800"/>
              </a:spcAft>
              <a:defRPr sz="1500"/>
            </a:pPr>
            <a:r>
              <a:t>Natural Language Generation (NLG) Metrics:</a:t>
            </a:r>
          </a:p>
          <a:p>
            <a:pPr>
              <a:spcAft>
                <a:spcPts val="800"/>
              </a:spcAft>
              <a:defRPr sz="1500"/>
            </a:pPr>
            <a:r>
              <a:t>BLEU (BLEU-1 to BLEU-4): Evaluates n-gram precision overlap between generated text and actual radiologist reports.</a:t>
            </a:r>
          </a:p>
          <a:p>
            <a:pPr>
              <a:spcAft>
                <a:spcPts val="800"/>
              </a:spcAft>
              <a:defRPr sz="1500"/>
            </a:pPr>
            <a:r>
              <a:t>ROUGE (ROUGE-L): Evaluates sentence recall based on longest common subsequence matching.</a:t>
            </a:r>
          </a:p>
          <a:p>
            <a:pPr>
              <a:spcAft>
                <a:spcPts val="800"/>
              </a:spcAft>
              <a:defRPr sz="1500"/>
            </a:pPr>
            <a:r>
              <a:t>METEOR: Assesses harmonic precision-recall balance incorporating stemming and synonym dictionaries.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4. What Metrics?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Explainability (XAI) Metrics: Visual heatmaps and saliency validation using Grad-CAM, SHAP, LIME, and Layer-wise Relevance Propagation (LRP).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What Are the Limitations?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Overfitting on Narrative Flow: Recurrent and transformer decoders suffer from memory loss or overfitting during long-form report generation.</a:t>
            </a:r>
          </a:p>
          <a:p>
            <a:pPr>
              <a:spcAft>
                <a:spcPts val="800"/>
              </a:spcAft>
              <a:defRPr sz="1500"/>
            </a:pPr>
            <a:r>
              <a:t>Templating &amp; Hallucination: Imbalanced class distributions force models to produce repetitive "normal" templates or hallucinated disease terms.</a:t>
            </a:r>
          </a:p>
          <a:p>
            <a:pPr>
              <a:spcAft>
                <a:spcPts val="800"/>
              </a:spcAft>
              <a:defRPr sz="1500"/>
            </a:pPr>
            <a:r>
              <a:t>High Computational Footprint: Pre-training and fine-tuning cross-modal transformers and LLMs requires massive GPU hardware and memory.</a:t>
            </a:r>
          </a:p>
          <a:p>
            <a:pPr>
              <a:spcAft>
                <a:spcPts val="800"/>
              </a:spcAft>
              <a:defRPr sz="1500"/>
            </a:pPr>
            <a:r>
              <a:t>Vulnerability to Noise: Inconsistent image acquisition parameters (resolution, artifacts) or noisy ground-truth reports degrade generation quality.</a:t>
            </a:r>
          </a:p>
          <a:p>
            <a:pPr>
              <a:spcAft>
                <a:spcPts val="800"/>
              </a:spcAft>
              <a:defRPr sz="1500"/>
            </a:pPr>
            <a:r>
              <a:t>Inadequacy of Text Metrics: BLEU and ROUGE evaluate word overlap without verifying clinical diagnostic correctness or critical negative mentions.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6. What Makes a Study Clinically Meaningful?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Diagnostic Factuality Over Textual Fluency: Generated reports must maintain strict medical precision (lesion localization, severity, negative findings) rather than just grammatical fluency.</a:t>
            </a:r>
          </a:p>
          <a:p>
            <a:pPr>
              <a:spcAft>
                <a:spcPts val="800"/>
              </a:spcAft>
              <a:defRPr sz="1500"/>
            </a:pPr>
            <a:r>
              <a:t>Explainable AI (XAI) Visual Grounding: Providing heatmaps (Grad-CAM, SHAP) highlighting image abnormalities to ensure radiologist verification.</a:t>
            </a:r>
          </a:p>
          <a:p>
            <a:pPr>
              <a:spcAft>
                <a:spcPts val="800"/>
              </a:spcAft>
              <a:defRPr sz="1500"/>
            </a:pPr>
            <a:r>
              <a:t>Multimodal Data Integration: Merging radiological images with Electronic Health Records (EHR), clinical history, lab tests, and demographics.</a:t>
            </a:r>
          </a:p>
          <a:p>
            <a:pPr>
              <a:spcAft>
                <a:spcPts val="800"/>
              </a:spcAft>
              <a:defRPr sz="1500"/>
            </a:pPr>
            <a:r>
              <a:t>Multi-Center Generalizability: Validating models across multiple hospital systems, scanning protocols, and scanner manufacturers.</a:t>
            </a:r>
          </a:p>
          <a:p>
            <a:pPr>
              <a:spcAft>
                <a:spcPts val="800"/>
              </a:spcAft>
              <a:defRPr sz="1500"/>
            </a:pPr>
            <a:r>
              <a:t>Workflow Ergonomics: Providing rapid turnaround times and low inference latency to ease radiologist workload without steep learning curves.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6. What Makes a Study Clinically Meaningful?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2: Paper 2 (Advancement in Medical Report Generation - MBEC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Privacy &amp; Ethical Governance: Preserving data confidentiality in compliance with HIPAA via Privacy-Preserving Federated Learning.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1. How Images Were Collected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Online Atlas Mining: 16,577 clinical photographs acquired from two open-access dermatology educational portals.</a:t>
            </a:r>
          </a:p>
          <a:p>
            <a:pPr>
              <a:spcAft>
                <a:spcPts val="800"/>
              </a:spcAft>
              <a:defRPr sz="1500"/>
            </a:pPr>
            <a:r>
              <a:t>Source Atlases: 12,672 macroscopic images from DermaAmin and 3,905 images from Atlas Dermatologico.</a:t>
            </a:r>
          </a:p>
          <a:p>
            <a:pPr>
              <a:spcAft>
                <a:spcPts val="800"/>
              </a:spcAft>
              <a:defRPr sz="1500"/>
            </a:pPr>
            <a:r>
              <a:t>Category Exclusion Protocol: 22 disease categories were removed due to excessive scope, image noise, or rarity (e.g., fungal/viral infections, vasculitis, dry skin eczema).</a:t>
            </a:r>
          </a:p>
          <a:p>
            <a:pPr>
              <a:spcAft>
                <a:spcPts val="800"/>
              </a:spcAft>
              <a:defRPr sz="1500"/>
            </a:pPr>
            <a:r>
              <a:t>Volume Thresholding: Included only specific skin conditions having between 53 and 653 clinical images.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Comprehensive Column-by-Column Breakdown (The CSV Schema)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md5hash: 32-character hexadecimal cryptographic hash string; acts as a globally unique identifier for every image file and guarantees zero duplicate entries.</a:t>
            </a:r>
          </a:p>
          <a:p>
            <a:pPr>
              <a:spcAft>
                <a:spcPts val="800"/>
              </a:spcAft>
              <a:defRPr sz="1500"/>
            </a:pPr>
            <a:r>
              <a:t>fitzpatrick_scale: Primary ground-truth skin phototype score (1 to 6) established by human labeler dynamic consensus; represents sun-reactivity and skin tone (labeled as -1 for 565 unidentifiable images).</a:t>
            </a:r>
          </a:p>
          <a:p>
            <a:pPr>
              <a:spcAft>
                <a:spcPts val="800"/>
              </a:spcAft>
              <a:defRPr sz="1500"/>
            </a:pPr>
            <a:r>
              <a:t>fitzpatrick_centaur: Initial algorithmic/annotator consensus score generated by Scale AI's proprietary Centaur labeling pipeline.</a:t>
            </a:r>
          </a:p>
          <a:p>
            <a:pPr>
              <a:spcAft>
                <a:spcPts val="800"/>
              </a:spcAft>
              <a:defRPr sz="1500"/>
            </a:pPr>
            <a:r>
              <a:t>label: Fine-grained dermatological disease label assigned to the image across 114 distinct disease classes (e.g., psoriasis, melanoma, vitiligo).</a:t>
            </a:r>
          </a:p>
          <a:p>
            <a:pPr>
              <a:spcAft>
                <a:spcPts val="800"/>
              </a:spcAft>
              <a:defRPr sz="1500"/>
            </a:pPr>
            <a:r>
              <a:t>nine_partition_label: Mid-level clinical taxonomy classifying conditions into 9 categories (inflammatory, malignant epidermal, genodermatoses, benign dermal, etc.).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Comprehensive Column-by-Column Breakdown (The CSV Schema)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three_partition_label: High-level pathological category grouping diseases into 3 broad classes: non-neoplastic, malignant, and benign.</a:t>
            </a:r>
          </a:p>
          <a:p>
            <a:pPr>
              <a:spcAft>
                <a:spcPts val="800"/>
              </a:spcAft>
              <a:defRPr sz="1500"/>
            </a:pPr>
            <a:r>
              <a:t>qc (Quality Control): Clinical diagnostic validity score assigned by a board-certified dermatologist across 504 sampled images (categories: 1 Diagnostic, 5 Potentially, 2 Characteristic, 3 Wrongly labelled, 4 Other; remaining 16,073 rows are NaN).</a:t>
            </a:r>
          </a:p>
          <a:p>
            <a:pPr>
              <a:spcAft>
                <a:spcPts val="800"/>
              </a:spcAft>
              <a:defRPr sz="1500"/>
            </a:pPr>
            <a:r>
              <a:t>url: Web download link pointing directly to the original image on the DermaAmin or Atlas Dermatologico server.</a:t>
            </a:r>
          </a:p>
          <a:p>
            <a:pPr>
              <a:spcAft>
                <a:spcPts val="800"/>
              </a:spcAft>
              <a:defRPr sz="1500"/>
            </a:pPr>
            <a:r>
              <a:t>url_alphanum: Sanitized alphanumeric string derived from the URL (special symbols removed) ending in .jpg; acts as the local filename on disk to link image files to CSV rows.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What the Labels Mean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Fitzpatrick Skin Phototypes (Scale 1-6):</a:t>
            </a:r>
          </a:p>
          <a:p>
            <a:pPr>
              <a:spcAft>
                <a:spcPts val="800"/>
              </a:spcAft>
              <a:defRPr sz="1500"/>
            </a:pPr>
            <a:r>
              <a:t>Type 1 &amp; 2: Lightest / fair / pale skin tones.</a:t>
            </a:r>
          </a:p>
          <a:p>
            <a:pPr>
              <a:spcAft>
                <a:spcPts val="800"/>
              </a:spcAft>
              <a:defRPr sz="1500"/>
            </a:pPr>
            <a:r>
              <a:t>Type 3 &amp; 4: Medium / intermediate / olive skin tones.</a:t>
            </a:r>
          </a:p>
          <a:p>
            <a:pPr>
              <a:spcAft>
                <a:spcPts val="800"/>
              </a:spcAft>
              <a:defRPr sz="1500"/>
            </a:pPr>
            <a:r>
              <a:t>Type 5 &amp; 6: Dark / deeply pigmented skin tones.</a:t>
            </a:r>
          </a:p>
          <a:p>
            <a:pPr>
              <a:spcAft>
                <a:spcPts val="800"/>
              </a:spcAft>
              <a:defRPr sz="1500"/>
            </a:pPr>
            <a:r>
              <a:t>Unknown (-1): Images where consensus annotators could not determine skin type (n=565).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What the Labels Mean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Disease Hierarchies (Esteva et al. Taxonomy):</a:t>
            </a:r>
          </a:p>
          <a:p>
            <a:pPr>
              <a:spcAft>
                <a:spcPts val="800"/>
              </a:spcAft>
              <a:defRPr sz="1500"/>
            </a:pPr>
            <a:r>
              <a:t>Granular level: 114 specific diseases.</a:t>
            </a:r>
          </a:p>
          <a:p>
            <a:pPr>
              <a:spcAft>
                <a:spcPts val="800"/>
              </a:spcAft>
              <a:defRPr sz="1500"/>
            </a:pPr>
            <a:r>
              <a:t>Mid-level: 9 biological partitions.</a:t>
            </a:r>
          </a:p>
          <a:p>
            <a:pPr>
              <a:spcAft>
                <a:spcPts val="800"/>
              </a:spcAft>
              <a:defRPr sz="1500"/>
            </a:pPr>
            <a:r>
              <a:t>High-level: 3 pathological categories (non-neoplastic, benign, malignant).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4. Number of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Fine-Grained Classification: 114 distinct skin conditions.</a:t>
            </a:r>
          </a:p>
          <a:p>
            <a:pPr>
              <a:spcAft>
                <a:spcPts val="800"/>
              </a:spcAft>
              <a:defRPr sz="1500"/>
            </a:pPr>
            <a:r>
              <a:t>Nine-Partition Classification: 9 classes (Inflammatory: 10,886; Malignant Epidermal: 1,352; Genodermatoses: 1,194; Benign Dermal: 1,067; Benign Epidermal: 931; Malignant Melanoma: 573; Benign Melanocyte: 236; Malignant Cutaneous Lymphoma: 182; Malignant Dermal: 156).</a:t>
            </a:r>
          </a:p>
          <a:p>
            <a:pPr>
              <a:spcAft>
                <a:spcPts val="800"/>
              </a:spcAft>
              <a:defRPr sz="1500"/>
            </a:pPr>
            <a:r>
              <a:t>Three-Partition Classification: 3 classes (Non-neoplastic: 12,080; Malignant: 2,263; Benign: 2,234).</a:t>
            </a:r>
          </a:p>
          <a:p>
            <a:pPr>
              <a:spcAft>
                <a:spcPts val="800"/>
              </a:spcAft>
              <a:defRPr sz="1500"/>
            </a:pPr>
            <a:r>
              <a:t>Skin Phototype Classification: 6 Fitzpatrick classes (1 to 6) plus 1 unknown class (-1).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Class Imbalance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Severe Skin Tone Skew:</a:t>
            </a:r>
          </a:p>
          <a:p>
            <a:pPr>
              <a:spcAft>
                <a:spcPts val="800"/>
              </a:spcAft>
              <a:defRPr sz="1500"/>
            </a:pPr>
            <a:r>
              <a:t>Light skin (Types 1 &amp; 2): 7,755 images.</a:t>
            </a:r>
          </a:p>
          <a:p>
            <a:pPr>
              <a:spcAft>
                <a:spcPts val="800"/>
              </a:spcAft>
              <a:defRPr sz="1500"/>
            </a:pPr>
            <a:r>
              <a:t>Medium skin (Types 3 &amp; 4): 6,089 images.</a:t>
            </a:r>
          </a:p>
          <a:p>
            <a:pPr>
              <a:spcAft>
                <a:spcPts val="800"/>
              </a:spcAft>
              <a:defRPr sz="1500"/>
            </a:pPr>
            <a:r>
              <a:t>Dark skin (Types 5 &amp; 6): Only 2,168 images.</a:t>
            </a:r>
          </a:p>
          <a:p>
            <a:pPr>
              <a:spcAft>
                <a:spcPts val="800"/>
              </a:spcAft>
              <a:defRPr sz="1500"/>
            </a:pPr>
            <a:r>
              <a:t>Light skin images outnumber dark skin images by a ratio of 3.6 to 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Class Imbalance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Disease Absence in Dark Skin:</a:t>
            </a:r>
          </a:p>
          <a:p>
            <a:pPr>
              <a:spcAft>
                <a:spcPts val="800"/>
              </a:spcAft>
              <a:defRPr sz="1500"/>
            </a:pPr>
            <a:r>
              <a:t>Types 1 through 3 contain examples for all 114 conditions.</a:t>
            </a:r>
          </a:p>
          <a:p>
            <a:pPr>
              <a:spcAft>
                <a:spcPts val="800"/>
              </a:spcAft>
              <a:defRPr sz="1500"/>
            </a:pPr>
            <a:r>
              <a:t>Type 6 contains examples for only 89 conditions; 25 conditions have zero images for dark skin.</a:t>
            </a:r>
          </a:p>
          <a:p>
            <a:pPr>
              <a:spcAft>
                <a:spcPts val="800"/>
              </a:spcAft>
              <a:defRPr sz="1500"/>
            </a:pPr>
            <a:r>
              <a:t>Only 10 conditions had a mean Fitzpatrick rating &gt;3.5.</a:t>
            </a:r>
          </a:p>
          <a:p>
            <a:pPr>
              <a:spcAft>
                <a:spcPts val="800"/>
              </a:spcAft>
              <a:defRPr sz="1500"/>
            </a:pPr>
            <a:r>
              <a:t>Pathological Category Skew: Non-neoplastic lesions account for 72.9% (12,080) of the dataset, creating an imbalance over malignant and benign tumors.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6. Image Modality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Macroscopic Clinical Photography: Standard RGB color photographs captured with consumer digital cameras and smartphones under normal room illumination.</a:t>
            </a:r>
          </a:p>
          <a:p>
            <a:pPr>
              <a:spcAft>
                <a:spcPts val="800"/>
              </a:spcAft>
              <a:defRPr sz="1500"/>
            </a:pPr>
            <a:r>
              <a:t>Exclusion of Dermoscopy: Contains no epiluminescence dermoscopy images (cross-polarized surface microscopy).</a:t>
            </a:r>
          </a:p>
          <a:p>
            <a:pPr>
              <a:spcAft>
                <a:spcPts val="800"/>
              </a:spcAft>
              <a:defRPr sz="1500"/>
            </a:pPr>
            <a:r>
              <a:t>Non-Histological: Contains no whole-slide microscopic biopsy scans.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7. How Diagnosis Was Established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Atlas Baseline Annotations: Disease labels were taken directly from educational website entries without systematic biopsy confirmation.</a:t>
            </a:r>
          </a:p>
          <a:p>
            <a:pPr>
              <a:spcAft>
                <a:spcPts val="800"/>
              </a:spcAft>
              <a:defRPr sz="1500"/>
            </a:pPr>
            <a:r>
              <a:t>Dermatologist Quality Control Audit:</a:t>
            </a:r>
          </a:p>
          <a:p>
            <a:pPr>
              <a:spcAft>
                <a:spcPts val="800"/>
              </a:spcAft>
              <a:defRPr sz="1500"/>
            </a:pPr>
            <a:r>
              <a:t>A board-certified dermatologist audited a random sample of 504 images (3% of the dataset).</a:t>
            </a:r>
          </a:p>
          <a:p>
            <a:pPr>
              <a:spcAft>
                <a:spcPts val="800"/>
              </a:spcAft>
              <a:defRPr sz="1500"/>
            </a:pPr>
            <a:r>
              <a:t>Evaluation: 69.0% clearly diagnostic, 19.2% potentially diagnostic, 6.3% characteristic, 3.4% wrongly labeled, and 2.0% other.</a:t>
            </a:r>
          </a:p>
          <a:p>
            <a:pPr>
              <a:spcAft>
                <a:spcPts val="800"/>
              </a:spcAft>
              <a:defRPr sz="1500"/>
            </a:pPr>
            <a:r>
              <a:t>A second dermatologist independently reviewed the sample, confirming the baseline 3.4% visual label error rate.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8. Dataset Limitations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Demographic Bias &amp; Algorithmic Disparities: Scarcity of dark skin phototypes (Types 5 &amp; 6) causes trained neural networks to perform worse on darker skin tones.</a:t>
            </a:r>
          </a:p>
          <a:p>
            <a:pPr>
              <a:spcAft>
                <a:spcPts val="800"/>
              </a:spcAft>
              <a:defRPr sz="1500"/>
            </a:pPr>
            <a:r>
              <a:t>Complete Missingness of Classes: 25 conditions have zero training images for Fitzpatrick Type 6 skin.</a:t>
            </a:r>
          </a:p>
          <a:p>
            <a:pPr>
              <a:spcAft>
                <a:spcPts val="800"/>
              </a:spcAft>
              <a:defRPr sz="1500"/>
            </a:pPr>
            <a:r>
              <a:t>Unstandardized Web Photography: Uncontrolled lighting, variable resolution, blur, camera distance, and cluttered backgrounds.</a:t>
            </a:r>
          </a:p>
          <a:p>
            <a:pPr>
              <a:spcAft>
                <a:spcPts val="800"/>
              </a:spcAft>
              <a:defRPr sz="1500"/>
            </a:pPr>
            <a:r>
              <a:t>Subjective Phototype Assignment: Applying sun-reactivity Fitzpatrick scale visually to static photographs creates human consensus disagreement and off-by-one errors.</a:t>
            </a:r>
          </a:p>
          <a:p>
            <a:pPr>
              <a:spcAft>
                <a:spcPts val="800"/>
              </a:spcAft>
              <a:defRPr sz="1500"/>
            </a:pPr>
            <a:r>
              <a:t>Failure of Algorithmic Skin Tone Estimation (ITA): Individual Typology Angle (calculated over YCbCr skin masks) deviated by more than +/- 1 scale point in one-third of the dataset due to lighting variations and skin lesions.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8. Dataset Limitations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SECTION 3: Paper 3 &amp; Dataset Study (Fitzpatrick 17k Dataset - Groh et al.)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Lack of Histopathological Ground Truth: Reliance on clinical appearance rather than biopsy-confirmed pathology across the unverified bulk of the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3276</Words>
  <Application>Microsoft Office PowerPoint</Application>
  <PresentationFormat>Widescreen</PresentationFormat>
  <Paragraphs>192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AHONA</dc:creator>
  <cp:keywords/>
  <dc:description>generated using python-pptx</dc:description>
  <cp:lastModifiedBy>Tanha Sayed Ahona</cp:lastModifiedBy>
  <cp:revision>2</cp:revision>
  <dcterms:created xsi:type="dcterms:W3CDTF">2013-01-27T09:14:16Z</dcterms:created>
  <dcterms:modified xsi:type="dcterms:W3CDTF">2026-09-23T15:24:31Z</dcterms:modified>
  <cp:category/>
</cp:coreProperties>
</file>